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Host Grotesk Medium"/>
      <p:regular r:id="rId19"/>
    </p:embeddedFont>
    <p:embeddedFont>
      <p:font typeface="Host Grotesk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6585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23579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Uncovering insights from 3,900 purchases to guide strategic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74564"/>
            <a:ext cx="1659255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42549"/>
            <a:ext cx="138707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734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9357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3.9K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455420" y="3967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35893" y="29357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3967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Features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77995" y="2935724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9675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4662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Data Points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5356503"/>
            <a:ext cx="13042821" cy="136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demographics &amp; purchase history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categories, sizes, colors, seasons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Discounts, subscriptions, shipping preferences</a:t>
            </a:r>
            <a:endParaRPr lang="en-US" sz="1750" dirty="0"/>
          </a:p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ratings &amp; payment methods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467" y="516136"/>
            <a:ext cx="1611749" cy="331232"/>
          </a:xfrm>
          <a:prstGeom prst="roundRect">
            <a:avLst>
              <a:gd name="adj" fmla="val 18934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5005" y="579715"/>
            <a:ext cx="1372672" cy="204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PREPARATION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75467" y="908804"/>
            <a:ext cx="5174813" cy="58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Python Analysis Pipeline</a:t>
            </a:r>
            <a:endParaRPr lang="en-US" sz="3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467" y="1722358"/>
            <a:ext cx="12879348" cy="5563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48790" y="5224183"/>
            <a:ext cx="1912364" cy="69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Clean &amp; Standardize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3948790" y="6019856"/>
            <a:ext cx="1912364" cy="76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 columns and formats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859249" y="5478055"/>
            <a:ext cx="1912365" cy="69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Engineer Features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8859249" y="6273729"/>
            <a:ext cx="1912365" cy="507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age groups and metrics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499655" y="2224346"/>
            <a:ext cx="1912365" cy="34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Load Data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499655" y="2671719"/>
            <a:ext cx="1912365" cy="507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 raw datasets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235434" y="2224346"/>
            <a:ext cx="1912365" cy="69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Export to PostgreSQL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11235434" y="3020019"/>
            <a:ext cx="1912365" cy="507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cleaned dataset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434496" y="2224346"/>
            <a:ext cx="1912364" cy="69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Handle Missing Values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434496" y="3020019"/>
            <a:ext cx="1912364" cy="507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 or remove gaps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75467" y="7458313"/>
            <a:ext cx="12879348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Cleaned dataset with imputed review ratings, standardized columns, and new age groups for deeper analysis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2481"/>
            <a:ext cx="72975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Insights by Gender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751421"/>
            <a:ext cx="3664744" cy="1775698"/>
          </a:xfrm>
          <a:prstGeom prst="roundRect">
            <a:avLst>
              <a:gd name="adj" fmla="val 53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9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Male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4476274"/>
            <a:ext cx="31958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$157,890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revenue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224" y="4952524"/>
            <a:ext cx="319587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68% of total sales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751421"/>
            <a:ext cx="3664863" cy="1775698"/>
          </a:xfrm>
          <a:prstGeom prst="roundRect">
            <a:avLst>
              <a:gd name="adj" fmla="val 5365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782" y="39858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Female Customers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782" y="4476274"/>
            <a:ext cx="319599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$75,191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total revenue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19782" y="4952524"/>
            <a:ext cx="319599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32% of total sales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64278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Top Performing Products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1353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Customer Favorites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716536"/>
            <a:ext cx="420516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Accessories and footwear lead in customer satisfaction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600932"/>
            <a:ext cx="420516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rating across all products: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3.75 stars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5485328"/>
            <a:ext cx="420516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839 customers used discounts while spending above average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54298"/>
            <a:ext cx="2473047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167646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122283"/>
            <a:ext cx="1928693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SEGMENTS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531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Loyalty Distribution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1478042" y="407646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80%</a:t>
            </a:r>
            <a:endParaRPr lang="en-US" sz="4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658785"/>
            <a:ext cx="3402330" cy="34023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55420" y="63446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93790" y="6835021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repeat buyers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920145" y="407646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18%</a:t>
            </a:r>
            <a:endParaRPr lang="en-US" sz="4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658785"/>
            <a:ext cx="3402330" cy="34023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97523" y="63446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235893" y="6835021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0362248" y="4076462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2%</a:t>
            </a:r>
            <a:endParaRPr lang="en-US" sz="4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658785"/>
            <a:ext cx="3402330" cy="340233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339626" y="63446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New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9677995" y="6835021"/>
            <a:ext cx="415861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 first-time buyers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9939"/>
            <a:ext cx="86663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Subscription vs Non-Subscription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3418880"/>
            <a:ext cx="6571417" cy="2440662"/>
          </a:xfrm>
          <a:prstGeom prst="roundRect">
            <a:avLst>
              <a:gd name="adj" fmla="val 6691"/>
            </a:avLst>
          </a:prstGeom>
          <a:solidFill>
            <a:srgbClr val="95CCDA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3645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Finding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4226838"/>
            <a:ext cx="6117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27%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customers subscribe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57250" y="4771073"/>
            <a:ext cx="6117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 spend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$59.49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average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5315307"/>
            <a:ext cx="61177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spend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$59.87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average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645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Opportunity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4226838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spending difference between groups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771073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 repeat buyers with subscriptions vs 2,518 without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315307"/>
            <a:ext cx="62447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Huge potential to convert loyal non-subscribers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97179"/>
            <a:ext cx="5988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Revenue by Age Group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146119"/>
            <a:ext cx="3090505" cy="1821418"/>
          </a:xfrm>
          <a:prstGeom prst="roundRect">
            <a:avLst>
              <a:gd name="adj" fmla="val 8032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10" y="5146119"/>
            <a:ext cx="121920" cy="1821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2524" y="5403413"/>
            <a:ext cx="24844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Young Adult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142524" y="5893832"/>
            <a:ext cx="24844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$62,143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revenue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142524" y="6370082"/>
            <a:ext cx="24844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contributor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111109" y="5146119"/>
            <a:ext cx="3090624" cy="1821418"/>
          </a:xfrm>
          <a:prstGeom prst="roundRect">
            <a:avLst>
              <a:gd name="adj" fmla="val 8032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629" y="5146119"/>
            <a:ext cx="121920" cy="18214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59843" y="5403413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Middle-aged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4459843" y="5893832"/>
            <a:ext cx="24845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$59,197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revenue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4459843" y="6370082"/>
            <a:ext cx="24845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segment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428548" y="5146119"/>
            <a:ext cx="3090624" cy="1821418"/>
          </a:xfrm>
          <a:prstGeom prst="roundRect">
            <a:avLst>
              <a:gd name="adj" fmla="val 8032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5146119"/>
            <a:ext cx="121920" cy="182141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7282" y="5403413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Adult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7777282" y="5893832"/>
            <a:ext cx="24845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$55,978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revenue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7777282" y="6370082"/>
            <a:ext cx="24845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Steady performance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10745986" y="5146119"/>
            <a:ext cx="3090624" cy="1821418"/>
          </a:xfrm>
          <a:prstGeom prst="roundRect">
            <a:avLst>
              <a:gd name="adj" fmla="val 8032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5506" y="5146119"/>
            <a:ext cx="121920" cy="182141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094720" y="5403413"/>
            <a:ext cx="24845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Senior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11094720" y="5893832"/>
            <a:ext cx="24845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$55,763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revenue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11094720" y="6370082"/>
            <a:ext cx="2484596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buyers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6167"/>
            <a:ext cx="2784753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87951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834152"/>
            <a:ext cx="224039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 PERFORMANCE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65039"/>
            <a:ext cx="65162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Sales &amp; Revenue Leaders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69131"/>
            <a:ext cx="8284131" cy="4639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38943" y="3724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Category Insights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638943" y="4306133"/>
            <a:ext cx="420516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Clothing dominates with 1,737 purchases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638943" y="4850368"/>
            <a:ext cx="420516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items: Blouse, Pants, Shirt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638943" y="5394603"/>
            <a:ext cx="420516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Hat shows highest discount dependency at 50%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982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165" y="3448764"/>
            <a:ext cx="6921698" cy="666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Strategic Recommendations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46165" y="4415552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65" y="4754999"/>
            <a:ext cx="6468785" cy="2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6165" y="4907280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Boost Subscriptions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46165" y="5360432"/>
            <a:ext cx="64687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benefits to convert 73% non-subscribers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415332" y="4415552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332" y="4754999"/>
            <a:ext cx="6468904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15332" y="4907280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Loyalty Programs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7415332" y="5360432"/>
            <a:ext cx="64689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strengthen 80% loyal segment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46165" y="6030873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65" y="6349008"/>
            <a:ext cx="6468785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165" y="6522601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Optimize Discounts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46165" y="6975753"/>
            <a:ext cx="64687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boosts with margin control on high-discount items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415332" y="6030873"/>
            <a:ext cx="213122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6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332" y="6349008"/>
            <a:ext cx="6468904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15332" y="6522601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Targeted Marketing</a:t>
            </a:r>
            <a:endParaRPr lang="en-US" sz="2050" dirty="0"/>
          </a:p>
        </p:txBody>
      </p:sp>
      <p:sp>
        <p:nvSpPr>
          <p:cNvPr id="19" name="Text 12"/>
          <p:cNvSpPr/>
          <p:nvPr/>
        </p:nvSpPr>
        <p:spPr>
          <a:xfrm>
            <a:off x="7415332" y="6975753"/>
            <a:ext cx="646890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young adults and express shipping users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2026-02-08T08:54:01Z</dcterms:created>
  <dcterms:modified xsi:type="dcterms:W3CDTF">2026-02-08T08:54:01Z</dcterms:modified>
</cp:coreProperties>
</file>